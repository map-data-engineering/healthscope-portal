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Helvetica Neu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f/OFq6Lq9+Rgjy23iXlLhxZZF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47a05e04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47a05e0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68470ac61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768470ac61_2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/>
          <p:nvPr>
            <p:ph idx="10" type="dt"/>
          </p:nvPr>
        </p:nvSpPr>
        <p:spPr>
          <a:xfrm>
            <a:off x="48875" y="6356350"/>
            <a:ext cx="2246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11196084" y="6361062"/>
            <a:ext cx="9959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0" y="-8500"/>
            <a:ext cx="12187750" cy="5642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/>
          <p:nvPr/>
        </p:nvSpPr>
        <p:spPr>
          <a:xfrm>
            <a:off x="536713" y="681037"/>
            <a:ext cx="6021468" cy="3870309"/>
          </a:xfrm>
          <a:prstGeom prst="rect">
            <a:avLst/>
          </a:prstGeom>
          <a:solidFill>
            <a:srgbClr val="EBBC40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4107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5"/>
          <p:cNvSpPr txBox="1"/>
          <p:nvPr>
            <p:ph type="ctrTitle"/>
          </p:nvPr>
        </p:nvSpPr>
        <p:spPr>
          <a:xfrm>
            <a:off x="1461052" y="681037"/>
            <a:ext cx="5097129" cy="2598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1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5"/>
          <p:cNvSpPr txBox="1"/>
          <p:nvPr>
            <p:ph idx="1" type="subTitle"/>
          </p:nvPr>
        </p:nvSpPr>
        <p:spPr>
          <a:xfrm>
            <a:off x="1461052" y="3279912"/>
            <a:ext cx="5097129" cy="1083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close up of a logo&#10;&#10;Description automatically generated" id="17" name="Google Shape;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8036" y="5895787"/>
            <a:ext cx="3446284" cy="92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5951" y="6133261"/>
            <a:ext cx="2677068" cy="446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for a company&#10;&#10;Description automatically generated" id="19" name="Google Shape;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5522" y="5895787"/>
            <a:ext cx="1248155" cy="80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38" name="Google Shape;3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45" name="Google Shape;4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55" name="Google Shape;5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61" name="Google Shape;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3"/>
          <p:cNvSpPr txBox="1"/>
          <p:nvPr>
            <p:ph idx="2" type="body"/>
          </p:nvPr>
        </p:nvSpPr>
        <p:spPr>
          <a:xfrm>
            <a:off x="839788" y="987425"/>
            <a:ext cx="3932237" cy="488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73" name="Google Shape;7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8470ac61_2_5"/>
          <p:cNvSpPr txBox="1"/>
          <p:nvPr>
            <p:ph idx="10" type="dt"/>
          </p:nvPr>
        </p:nvSpPr>
        <p:spPr>
          <a:xfrm>
            <a:off x="48875" y="6356350"/>
            <a:ext cx="2246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768470ac61_2_5"/>
          <p:cNvSpPr txBox="1"/>
          <p:nvPr>
            <p:ph idx="12" type="sldNum"/>
          </p:nvPr>
        </p:nvSpPr>
        <p:spPr>
          <a:xfrm>
            <a:off x="11196084" y="6361062"/>
            <a:ext cx="9959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g3768470ac61_2_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0" y="-8500"/>
            <a:ext cx="12187750" cy="56429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768470ac61_2_5"/>
          <p:cNvSpPr/>
          <p:nvPr/>
        </p:nvSpPr>
        <p:spPr>
          <a:xfrm>
            <a:off x="536713" y="681037"/>
            <a:ext cx="6021468" cy="3870309"/>
          </a:xfrm>
          <a:prstGeom prst="rect">
            <a:avLst/>
          </a:prstGeom>
          <a:solidFill>
            <a:srgbClr val="EBBC40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4107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g3768470ac61_2_5"/>
          <p:cNvSpPr txBox="1"/>
          <p:nvPr>
            <p:ph type="ctrTitle"/>
          </p:nvPr>
        </p:nvSpPr>
        <p:spPr>
          <a:xfrm>
            <a:off x="1461052" y="681037"/>
            <a:ext cx="5097129" cy="2598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1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768470ac61_2_5"/>
          <p:cNvSpPr txBox="1"/>
          <p:nvPr>
            <p:ph idx="1" type="subTitle"/>
          </p:nvPr>
        </p:nvSpPr>
        <p:spPr>
          <a:xfrm>
            <a:off x="1461052" y="3279912"/>
            <a:ext cx="5097129" cy="1083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close up of a logo&#10;&#10;Description automatically generated" id="87" name="Google Shape;87;g3768470ac61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8036" y="5895787"/>
            <a:ext cx="3446284" cy="92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768470ac61_2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5951" y="6133261"/>
            <a:ext cx="2677068" cy="446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for a company&#10;&#10;Description automatically generated" id="89" name="Google Shape;89;g3768470ac61_2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5522" y="5895787"/>
            <a:ext cx="1248155" cy="80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68470ac61_2_15"/>
          <p:cNvSpPr txBox="1"/>
          <p:nvPr>
            <p:ph type="title"/>
          </p:nvPr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g3768470ac61_2_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g3768470ac61_2_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768470ac61_2_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768470ac61_2_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96" name="Google Shape;96;g3768470ac61_2_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68470ac61_2_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768470ac61_2_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g3768470ac61_2_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768470ac61_2_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768470ac61_2_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103" name="Google Shape;103;g3768470ac61_2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68470ac61_2_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768470ac61_2_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768470ac61_2_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 type="twoTxTwoObj">
  <p:cSld name="TWO_OBJECTS_WITH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68470ac61_2_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g3768470ac61_2_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9pPr>
          </a:lstStyle>
          <a:p/>
        </p:txBody>
      </p:sp>
      <p:sp>
        <p:nvSpPr>
          <p:cNvPr id="111" name="Google Shape;111;g3768470ac61_2_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768470ac61_2_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600"/>
            </a:lvl9pPr>
          </a:lstStyle>
          <a:p/>
        </p:txBody>
      </p:sp>
      <p:sp>
        <p:nvSpPr>
          <p:cNvPr id="113" name="Google Shape;113;g3768470ac61_2_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768470ac61_2_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768470ac61_2_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768470ac61_2_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68470ac61_2_42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g3768470ac61_2_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768470ac61_2_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768470ac61_2_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8470ac61_2_4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g3768470ac61_2_4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768470ac61_2_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768470ac61_2_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768470ac61_2_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128" name="Google Shape;128;g3768470ac61_2_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768470ac61_2_47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68470ac61_2_5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g3768470ac61_2_5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g3768470ac61_2_5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g3768470ac61_2_5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g3768470ac61_2_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768470ac61_2_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768470ac61_2_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138" name="Google Shape;138;g3768470ac61_2_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768470ac61_2_55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68470ac61_2_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2" name="Google Shape;142;g3768470ac61_2_65"/>
          <p:cNvSpPr txBox="1"/>
          <p:nvPr>
            <p:ph idx="2" type="body"/>
          </p:nvPr>
        </p:nvSpPr>
        <p:spPr>
          <a:xfrm>
            <a:off x="839788" y="987425"/>
            <a:ext cx="3932237" cy="488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g3768470ac61_2_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768470ac61_2_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768470ac61_2_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146" name="Google Shape;146;g3768470ac61_2_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16656" y="79727"/>
            <a:ext cx="2981017" cy="60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68470ac61_2_65"/>
          <p:cNvSpPr txBox="1"/>
          <p:nvPr/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68470ac61_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g3768470ac61_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g3768470ac61_2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768470ac61_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png"/><Relationship Id="rId11" Type="http://schemas.openxmlformats.org/officeDocument/2006/relationships/image" Target="../media/image26.png"/><Relationship Id="rId22" Type="http://schemas.openxmlformats.org/officeDocument/2006/relationships/image" Target="../media/image33.png"/><Relationship Id="rId10" Type="http://schemas.openxmlformats.org/officeDocument/2006/relationships/image" Target="../media/image17.png"/><Relationship Id="rId21" Type="http://schemas.openxmlformats.org/officeDocument/2006/relationships/image" Target="../media/image32.png"/><Relationship Id="rId13" Type="http://schemas.openxmlformats.org/officeDocument/2006/relationships/image" Target="../media/image27.png"/><Relationship Id="rId24" Type="http://schemas.openxmlformats.org/officeDocument/2006/relationships/image" Target="../media/image30.png"/><Relationship Id="rId12" Type="http://schemas.openxmlformats.org/officeDocument/2006/relationships/image" Target="../media/image23.jp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5" Type="http://schemas.openxmlformats.org/officeDocument/2006/relationships/image" Target="../media/image4.png"/><Relationship Id="rId14" Type="http://schemas.openxmlformats.org/officeDocument/2006/relationships/image" Target="../media/image2.png"/><Relationship Id="rId17" Type="http://schemas.openxmlformats.org/officeDocument/2006/relationships/image" Target="../media/image28.png"/><Relationship Id="rId16" Type="http://schemas.openxmlformats.org/officeDocument/2006/relationships/image" Target="../media/image19.png"/><Relationship Id="rId5" Type="http://schemas.openxmlformats.org/officeDocument/2006/relationships/image" Target="../media/image11.png"/><Relationship Id="rId19" Type="http://schemas.openxmlformats.org/officeDocument/2006/relationships/image" Target="../media/image24.png"/><Relationship Id="rId6" Type="http://schemas.openxmlformats.org/officeDocument/2006/relationships/image" Target="../media/image16.png"/><Relationship Id="rId18" Type="http://schemas.openxmlformats.org/officeDocument/2006/relationships/image" Target="../media/image25.jpg"/><Relationship Id="rId7" Type="http://schemas.openxmlformats.org/officeDocument/2006/relationships/image" Target="../media/image21.jpg"/><Relationship Id="rId8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/>
          <p:nvPr>
            <p:ph type="ctrTitle"/>
          </p:nvPr>
        </p:nvSpPr>
        <p:spPr>
          <a:xfrm>
            <a:off x="1461052" y="681037"/>
            <a:ext cx="5097129" cy="2598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1"/>
          <p:cNvSpPr txBox="1"/>
          <p:nvPr>
            <p:ph idx="1" type="subTitle"/>
          </p:nvPr>
        </p:nvSpPr>
        <p:spPr>
          <a:xfrm>
            <a:off x="1461052" y="3279912"/>
            <a:ext cx="5097129" cy="1083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title"/>
          </p:nvPr>
        </p:nvSpPr>
        <p:spPr>
          <a:xfrm>
            <a:off x="0" y="0"/>
            <a:ext cx="9033164" cy="681037"/>
          </a:xfrm>
          <a:prstGeom prst="rect">
            <a:avLst/>
          </a:prstGeom>
          <a:solidFill>
            <a:srgbClr val="ECBC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47a05e040_0_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747a05e040_0_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747a05e040_0_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747a05e040_0_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72" name="Google Shape;172;g3768470ac61_2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737" y="1130079"/>
            <a:ext cx="1734442" cy="903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circle in the middle&#10;&#10;Description automatically generated with low confidence" id="173" name="Google Shape;173;g3768470ac61_2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4238" y="4153082"/>
            <a:ext cx="2193321" cy="732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low confidence" id="174" name="Google Shape;174;g3768470ac61_2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47166" y="5038548"/>
            <a:ext cx="2063125" cy="732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175" name="Google Shape;175;g3768470ac61_2_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65" y="2782118"/>
            <a:ext cx="1603375" cy="117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Malaria Control Programmes | LINK malaria" id="176" name="Google Shape;176;g3768470ac61_2_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0776" y="2617250"/>
            <a:ext cx="1603375" cy="1493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Malaria Control Programme - Ghana - Home | Facebook" id="177" name="Google Shape;177;g3768470ac61_2_73"/>
          <p:cNvPicPr preferRelativeResize="0"/>
          <p:nvPr/>
        </p:nvPicPr>
        <p:blipFill rotWithShape="1">
          <a:blip r:embed="rId8">
            <a:alphaModFix/>
          </a:blip>
          <a:srcRect b="6684" l="6115" r="8266" t="16190"/>
          <a:stretch/>
        </p:blipFill>
        <p:spPr>
          <a:xfrm>
            <a:off x="256342" y="4226732"/>
            <a:ext cx="2235262" cy="1129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any name&#10;&#10;Description automatically generated with low confidence" id="178" name="Google Shape;178;g3768470ac61_2_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0669" y="5907326"/>
            <a:ext cx="2589213" cy="86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768470ac61_2_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7236" y="2393548"/>
            <a:ext cx="1879408" cy="559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768470ac61_2_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78740" y="3256690"/>
            <a:ext cx="2589213" cy="641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768470ac61_2_73"/>
          <p:cNvSpPr txBox="1"/>
          <p:nvPr>
            <p:ph type="title"/>
          </p:nvPr>
        </p:nvSpPr>
        <p:spPr>
          <a:xfrm>
            <a:off x="237448" y="101601"/>
            <a:ext cx="4096398" cy="646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/>
              <a:t>ACKNOWLEDGMENTS</a:t>
            </a:r>
            <a:endParaRPr/>
          </a:p>
        </p:txBody>
      </p:sp>
      <p:pic>
        <p:nvPicPr>
          <p:cNvPr descr="TZLOGO COLOR" id="182" name="Google Shape;182;g3768470ac61_2_7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6973" y="1084598"/>
            <a:ext cx="1080714" cy="1354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768470ac61_2_7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84001" y="1276180"/>
            <a:ext cx="2332211" cy="1022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768470ac61_2_7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1428" y="1688824"/>
            <a:ext cx="2741027" cy="73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768470ac61_2_7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01673" y="2543921"/>
            <a:ext cx="2677068" cy="446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for a company&#10;&#10;Description automatically generated" id="186" name="Google Shape;186;g3768470ac61_2_7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56353" y="3451440"/>
            <a:ext cx="1825966" cy="1227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Dar es Salaam" id="187" name="Google Shape;187;g3768470ac61_2_7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82994" y="5196825"/>
            <a:ext cx="1380630" cy="13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ModAfrica (@MaModAfrica) / X" id="188" name="Google Shape;188;g3768470ac61_2_7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433988" y="3790910"/>
            <a:ext cx="967841" cy="94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768470ac61_2_73"/>
          <p:cNvSpPr txBox="1"/>
          <p:nvPr/>
        </p:nvSpPr>
        <p:spPr>
          <a:xfrm>
            <a:off x="48768" y="5693687"/>
            <a:ext cx="1233479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Funder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tes Foundation | Medicines for ..." id="190" name="Google Shape;190;g3768470ac61_2_73"/>
          <p:cNvPicPr preferRelativeResize="0"/>
          <p:nvPr/>
        </p:nvPicPr>
        <p:blipFill rotWithShape="1">
          <a:blip r:embed="rId19">
            <a:alphaModFix/>
          </a:blip>
          <a:srcRect b="41735" l="0" r="0" t="24922"/>
          <a:stretch/>
        </p:blipFill>
        <p:spPr>
          <a:xfrm>
            <a:off x="595330" y="5951722"/>
            <a:ext cx="4025900" cy="67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National Institute for Medical Research (NIMR) | Essentials" id="191" name="Google Shape;191;g3768470ac61_2_7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34669" y="5196566"/>
            <a:ext cx="1273026" cy="1273026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2" name="Google Shape;192;g3768470ac61_2_73"/>
          <p:cNvSpPr txBox="1"/>
          <p:nvPr/>
        </p:nvSpPr>
        <p:spPr>
          <a:xfrm>
            <a:off x="237448" y="733409"/>
            <a:ext cx="3245773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Ministries and Malaria Programmes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768470ac61_2_73"/>
          <p:cNvSpPr txBox="1"/>
          <p:nvPr/>
        </p:nvSpPr>
        <p:spPr>
          <a:xfrm>
            <a:off x="9378741" y="695838"/>
            <a:ext cx="2070371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Implementing Partners</a:t>
            </a:r>
            <a:endParaRPr/>
          </a:p>
        </p:txBody>
      </p:sp>
      <p:sp>
        <p:nvSpPr>
          <p:cNvPr id="194" name="Google Shape;194;g3768470ac61_2_73"/>
          <p:cNvSpPr txBox="1"/>
          <p:nvPr/>
        </p:nvSpPr>
        <p:spPr>
          <a:xfrm>
            <a:off x="6595760" y="771401"/>
            <a:ext cx="2070371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Universities and Research Institutes</a:t>
            </a:r>
            <a:endParaRPr/>
          </a:p>
        </p:txBody>
      </p:sp>
      <p:sp>
        <p:nvSpPr>
          <p:cNvPr id="195" name="Google Shape;195;g3768470ac61_2_73"/>
          <p:cNvSpPr txBox="1"/>
          <p:nvPr/>
        </p:nvSpPr>
        <p:spPr>
          <a:xfrm>
            <a:off x="4236321" y="812277"/>
            <a:ext cx="2070371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Networks, Consortium and Projects</a:t>
            </a:r>
            <a:endParaRPr/>
          </a:p>
        </p:txBody>
      </p:sp>
      <p:pic>
        <p:nvPicPr>
          <p:cNvPr id="196" name="Google Shape;196;g3768470ac61_2_73"/>
          <p:cNvPicPr preferRelativeResize="0"/>
          <p:nvPr/>
        </p:nvPicPr>
        <p:blipFill rotWithShape="1">
          <a:blip r:embed="rId21">
            <a:alphaModFix/>
          </a:blip>
          <a:srcRect b="0" l="6291" r="0" t="0"/>
          <a:stretch/>
        </p:blipFill>
        <p:spPr>
          <a:xfrm>
            <a:off x="3746901" y="3756908"/>
            <a:ext cx="1493719" cy="949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768470ac61_2_7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61327" y="2026320"/>
            <a:ext cx="28702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768470ac61_2_7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212780" y="5385811"/>
            <a:ext cx="2295525" cy="553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u Paludisme - SP/Palu" id="199" name="Google Shape;199;g3768470ac61_2_7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503784" y="4299092"/>
            <a:ext cx="949615" cy="949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P Theme">
  <a:themeElements>
    <a:clrScheme name="MAP Colors">
      <a:dk1>
        <a:srgbClr val="000000"/>
      </a:dk1>
      <a:lt1>
        <a:srgbClr val="FFFFFF"/>
      </a:lt1>
      <a:dk2>
        <a:srgbClr val="797979"/>
      </a:dk2>
      <a:lt2>
        <a:srgbClr val="EBBC40"/>
      </a:lt2>
      <a:accent1>
        <a:srgbClr val="F4CB5B"/>
      </a:accent1>
      <a:accent2>
        <a:srgbClr val="E6EBDC"/>
      </a:accent2>
      <a:accent3>
        <a:srgbClr val="CAD7D0"/>
      </a:accent3>
      <a:accent4>
        <a:srgbClr val="EC7016"/>
      </a:accent4>
      <a:accent5>
        <a:srgbClr val="E64823"/>
      </a:accent5>
      <a:accent6>
        <a:srgbClr val="9C6A6A"/>
      </a:accent6>
      <a:hlink>
        <a:srgbClr val="008F51"/>
      </a:hlink>
      <a:folHlink>
        <a:srgbClr val="FF9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P Theme">
  <a:themeElements>
    <a:clrScheme name="MAP Colors">
      <a:dk1>
        <a:srgbClr val="000000"/>
      </a:dk1>
      <a:lt1>
        <a:srgbClr val="FFFFFF"/>
      </a:lt1>
      <a:dk2>
        <a:srgbClr val="797979"/>
      </a:dk2>
      <a:lt2>
        <a:srgbClr val="EBBC40"/>
      </a:lt2>
      <a:accent1>
        <a:srgbClr val="F4CB5B"/>
      </a:accent1>
      <a:accent2>
        <a:srgbClr val="E6EBDC"/>
      </a:accent2>
      <a:accent3>
        <a:srgbClr val="CAD7D0"/>
      </a:accent3>
      <a:accent4>
        <a:srgbClr val="EC7016"/>
      </a:accent4>
      <a:accent5>
        <a:srgbClr val="E64823"/>
      </a:accent5>
      <a:accent6>
        <a:srgbClr val="9C6A6A"/>
      </a:accent6>
      <a:hlink>
        <a:srgbClr val="008F51"/>
      </a:hlink>
      <a:folHlink>
        <a:srgbClr val="FF9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2025-08-05T07:48:17Z</dcterms:created>
  <dc:creator>Punam Amratia</dc:creator>
</cp:coreProperties>
</file>